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FF6B4A"/>
                </a:solidFill>
                <a:latin typeface="Arial"/>
              </a:defRPr>
            </a:pPr>
            <a:r>
              <a:t>PRODUCT MANAGEMENT CASE STUDY  ·  VEDANTU PM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Arial"/>
              </a:defRPr>
            </a:pPr>
            <a:r>
              <a:t>Progressive Trust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 i="0">
                <a:solidFill>
                  <a:srgbClr val="BED2C8"/>
                </a:solidFill>
                <a:latin typeface="Arial"/>
              </a:defRPr>
            </a:pPr>
            <a:r>
              <a:t>Designing consent for Duolingo's under-18 users under India's DPDP Act, 2023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91840"/>
            <a:ext cx="6858000" cy="1645920"/>
          </a:xfrm>
          <a:prstGeom prst="roundRect">
            <a:avLst/>
          </a:prstGeom>
          <a:solidFill>
            <a:srgbClr val="1C4E42"/>
          </a:solidFill>
          <a:ln w="19050">
            <a:solidFill>
              <a:srgbClr val="2F5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FF6B4A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4048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Arial"/>
              </a:defRPr>
            </a:pPr>
            <a:r>
              <a:t>On a child's account, the person using the product and the person who must consent to its data practices are two different people. Duolingo's current flow is built for one user — not two.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120640"/>
            <a:ext cx="6858000" cy="914400"/>
          </a:xfrm>
          <a:prstGeom prst="roundRect">
            <a:avLst/>
          </a:prstGeom>
          <a:solidFill>
            <a:srgbClr val="2F5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257800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FF6B4A"/>
                </a:solidFill>
                <a:latin typeface="Arial"/>
              </a:defRPr>
            </a:pPr>
            <a:r>
              <a:t>THE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5321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Design a consent experience that protects children while preserving learning engagement.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554480"/>
            <a:ext cx="283464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0116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 i="0">
                <a:solidFill>
                  <a:srgbClr val="143C32"/>
                </a:solidFill>
                <a:latin typeface="Arial"/>
              </a:defRPr>
            </a:pPr>
            <a:r>
              <a:t>👤 Aisha,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5603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0" i="0">
                <a:solidFill>
                  <a:srgbClr val="5C6B64"/>
                </a:solidFill>
                <a:latin typeface="Arial"/>
              </a:defRPr>
            </a:pPr>
            <a:r>
              <a:t>Account Holder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2918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 i="0">
                <a:solidFill>
                  <a:srgbClr val="FF6B4A"/>
                </a:solidFill>
                <a:latin typeface="Arial"/>
              </a:defRPr>
            </a:pPr>
            <a:r>
              <a:t>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02336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 i="0">
                <a:solidFill>
                  <a:srgbClr val="143C32"/>
                </a:solidFill>
                <a:latin typeface="Arial"/>
              </a:defRPr>
            </a:pPr>
            <a:r>
              <a:t>🛡️ Priya (Mother)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5720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50" b="0" i="0">
                <a:solidFill>
                  <a:srgbClr val="5C6B64"/>
                </a:solidFill>
                <a:latin typeface="Arial"/>
              </a:defRPr>
            </a:pPr>
            <a:r>
              <a:t>Consent 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30352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0" i="1">
                <a:solidFill>
                  <a:srgbClr val="2F5D50"/>
                </a:solidFill>
                <a:latin typeface="Arial"/>
              </a:defRPr>
            </a:pPr>
            <a:r>
              <a:t>One product. Two people to design for.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309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A0B4AA"/>
                </a:solidFill>
                <a:latin typeface="Arial"/>
              </a:defRPr>
            </a:pPr>
            <a:r>
              <a:t>Alex Kochumon Koshy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2F5D50"/>
                </a:solidFill>
                <a:latin typeface="Arial"/>
              </a:defRPr>
            </a:pPr>
            <a:r>
              <a:t>WHY THIS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143C32"/>
                </a:solidFill>
                <a:latin typeface="Arial"/>
              </a:defRPr>
            </a:pPr>
            <a:r>
              <a:t>Most apps have one user. Duolingo has two.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0" i="0">
                <a:solidFill>
                  <a:srgbClr val="5C6B64"/>
                </a:solidFill>
                <a:latin typeface="Arial"/>
              </a:defRPr>
            </a:pPr>
            <a:r>
              <a:t>Consent design only gets hard when the person using the product isn't the person who can legally agree to its data practices.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43C32"/>
                </a:solidFill>
                <a:latin typeface="Arial"/>
              </a:defRPr>
            </a:pPr>
            <a:r>
              <a:t>🎵 Spotify (Baseline Case)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6B4A"/>
                </a:solidFill>
                <a:latin typeface="Arial"/>
              </a:defRPr>
            </a:pPr>
            <a:r>
              <a:t>User = Consent 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43891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32D"/>
                </a:solidFill>
                <a:latin typeface="Arial"/>
              </a:defRPr>
            </a:pPr>
            <a:r>
              <a:t>•  The adult who signs up is the same person whose data is collected.</a:t>
            </a:r>
          </a:p>
          <a:p>
            <a:pPr>
              <a:spcAft>
                <a:spcPts val="800"/>
              </a:spcAft>
              <a:defRPr sz="1300">
                <a:solidFill>
                  <a:srgbClr val="1E232D"/>
                </a:solidFill>
                <a:latin typeface="Arial"/>
              </a:defRPr>
            </a:pPr>
            <a:r>
              <a:t>•  One consent flow, one screen, one moment — it just works.</a:t>
            </a:r>
          </a:p>
          <a:p>
            <a:pPr>
              <a:spcAft>
                <a:spcPts val="800"/>
              </a:spcAft>
              <a:defRPr sz="1300">
                <a:solidFill>
                  <a:srgbClr val="1E232D"/>
                </a:solidFill>
                <a:latin typeface="Arial"/>
              </a:defRPr>
            </a:pPr>
            <a:r>
              <a:t>•  Zero friction handoff since identity is single-layered.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512064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43C32"/>
                </a:solidFill>
                <a:latin typeface="Arial"/>
              </a:defRPr>
            </a:pPr>
            <a:r>
              <a:t>🦉 Duolingo Child Accounts (Divergent)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432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6B4A"/>
                </a:solidFill>
                <a:latin typeface="Arial"/>
              </a:defRPr>
            </a:pPr>
            <a:r>
              <a:t>User ≠ Consent Provider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00400"/>
            <a:ext cx="43891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32D"/>
                </a:solidFill>
                <a:latin typeface="Arial"/>
              </a:defRPr>
            </a:pPr>
            <a:r>
              <a:t>•  Aisha (12) uses the product daily — she is the data subject.</a:t>
            </a:r>
          </a:p>
          <a:p>
            <a:pPr>
              <a:spcAft>
                <a:spcPts val="800"/>
              </a:spcAft>
              <a:defRPr sz="1300">
                <a:solidFill>
                  <a:srgbClr val="1E232D"/>
                </a:solidFill>
                <a:latin typeface="Arial"/>
              </a:defRPr>
            </a:pPr>
            <a:r>
              <a:t>•  Priya (her mother) must consent on her behalf — she never opens the app.</a:t>
            </a:r>
          </a:p>
          <a:p>
            <a:pPr>
              <a:spcAft>
                <a:spcPts val="800"/>
              </a:spcAft>
              <a:defRPr sz="1300">
                <a:solidFill>
                  <a:srgbClr val="1E232D"/>
                </a:solidFill>
                <a:latin typeface="Arial"/>
              </a:defRPr>
            </a:pPr>
            <a:r>
              <a:t>•  Consent request is detached from the moment of actual usage.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669280"/>
            <a:ext cx="10728655" cy="731520"/>
          </a:xfrm>
          <a:prstGeom prst="rect">
            <a:avLst/>
          </a:prstGeom>
          <a:solidFill>
            <a:srgbClr val="14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So what: A design built for the Spotify case will always under-serve the parent — and eventually lose the child's account too.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2F5D50"/>
                </a:solidFill>
                <a:latin typeface="Arial"/>
              </a:defRPr>
            </a:pPr>
            <a:r>
              <a:t>WHO WE'RE DESIGNING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143C32"/>
                </a:solidFill>
                <a:latin typeface="Arial"/>
              </a:defRPr>
            </a:pPr>
            <a:r>
              <a:t>Two personas, one account, pulling in different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43C32"/>
                </a:solidFill>
                <a:latin typeface="Arial"/>
              </a:defRPr>
            </a:pPr>
            <a:r>
              <a:t>👩‍🎓 Aisha, 12 (Account Holder)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1">
                <a:solidFill>
                  <a:srgbClr val="5C6B64"/>
                </a:solidFill>
                <a:latin typeface="Arial"/>
              </a:defRPr>
            </a:pPr>
            <a:r>
              <a:t>Wants speed, momentum, and instant learning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3891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32D"/>
                </a:solidFill>
                <a:latin typeface="Arial"/>
              </a:defRPr>
            </a:pPr>
            <a:r>
              <a:t>•  Wants to learn Spanish for school and keep her daily streak alive.</a:t>
            </a:r>
          </a:p>
          <a:p>
            <a:pPr>
              <a:spcAft>
                <a:spcPts val="800"/>
              </a:spcAft>
              <a:defRPr sz="1300">
                <a:solidFill>
                  <a:srgbClr val="1E232D"/>
                </a:solidFill>
                <a:latin typeface="Arial"/>
              </a:defRPr>
            </a:pPr>
            <a:r>
              <a:t>•  She won't read a consent screen — she will tap through anything standing between her and the next learning unit.</a:t>
            </a:r>
          </a:p>
          <a:p>
            <a:pPr>
              <a:spcAft>
                <a:spcPts val="800"/>
              </a:spcAft>
              <a:defRPr sz="1300">
                <a:solidFill>
                  <a:srgbClr val="1E232D"/>
                </a:solidFill>
                <a:latin typeface="Arial"/>
              </a:defRPr>
            </a:pPr>
            <a:r>
              <a:t>•  Highly sensitive to UX friction and layout interruptions.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43C32"/>
                </a:solidFill>
                <a:latin typeface="Arial"/>
              </a:defRPr>
            </a:pPr>
            <a:r>
              <a:t>🛡️ Priya (Aisha's Mother — Consent Provider)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1">
                <a:solidFill>
                  <a:srgbClr val="5C6B64"/>
                </a:solidFill>
                <a:latin typeface="Arial"/>
              </a:defRPr>
            </a:pPr>
            <a:r>
              <a:t>Wants absolute safety, visibility, and control over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34640"/>
            <a:ext cx="43891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32D"/>
                </a:solidFill>
                <a:latin typeface="Arial"/>
              </a:defRPr>
            </a:pPr>
            <a:r>
              <a:t>•  Has zero default visibility today into what data is being collected.</a:t>
            </a:r>
          </a:p>
          <a:p>
            <a:pPr>
              <a:spcAft>
                <a:spcPts val="800"/>
              </a:spcAft>
              <a:defRPr sz="1300">
                <a:solidFill>
                  <a:srgbClr val="1E232D"/>
                </a:solidFill>
                <a:latin typeface="Arial"/>
              </a:defRPr>
            </a:pPr>
            <a:r>
              <a:t>•  Cares about: Is her child's voice being recorded? Is it shared with third-party advertisers? How does she revoke permission?</a:t>
            </a:r>
          </a:p>
          <a:p>
            <a:pPr>
              <a:spcAft>
                <a:spcPts val="800"/>
              </a:spcAft>
              <a:defRPr sz="1300">
                <a:solidFill>
                  <a:srgbClr val="1E232D"/>
                </a:solidFill>
                <a:latin typeface="Arial"/>
              </a:defRPr>
            </a:pPr>
            <a:r>
              <a:t>•  Refuses to read lengthy Privacy Policy documents to find simple answers.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69280"/>
            <a:ext cx="10728655" cy="731520"/>
          </a:xfrm>
          <a:prstGeom prst="rect">
            <a:avLst/>
          </a:prstGeom>
          <a:solidFill>
            <a:srgbClr val="14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The tension: The product's UX is optimized for a 12-year-old's engagement. What her mother needs is visibility and control. Those goals pull in opposite directions.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2F5D50"/>
                </a:solidFill>
                <a:latin typeface="Arial"/>
              </a:defRPr>
            </a:pPr>
            <a:r>
              <a:t>CURRENT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143C32"/>
                </a:solidFill>
                <a:latin typeface="Arial"/>
              </a:defRPr>
            </a:pPr>
            <a:r>
              <a:t>Today's flow creates data risk with no visibility for parents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143C32"/>
                </a:solidFill>
                <a:latin typeface="Arial"/>
              </a:defRPr>
            </a:pPr>
            <a:r>
              <a:t>🎂 Self-declared birthdate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E232D"/>
                </a:solidFill>
                <a:latin typeface="Arial"/>
              </a:defRPr>
            </a:pPr>
            <a:r>
              <a:t>Captured at signup with no verification step. Creates non-compliance risk if minor accounts bypass locks.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143C32"/>
                </a:solidFill>
                <a:latin typeface="Arial"/>
              </a:defRPr>
            </a:pPr>
            <a:r>
              <a:t>🎙️ Voice-based exercises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E232D"/>
                </a:solidFill>
                <a:latin typeface="Arial"/>
              </a:defRPr>
            </a:pPr>
            <a:r>
              <a:t>Speaking lessons require microphone access. The device prompts generic OS popup with no parental alignment.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120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143C32"/>
                </a:solidFill>
                <a:latin typeface="Arial"/>
              </a:defRPr>
            </a:pPr>
            <a:r>
              <a:t>📈 Social &amp; Leaderboards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E232D"/>
                </a:solidFill>
                <a:latin typeface="Arial"/>
              </a:defRPr>
            </a:pPr>
            <a:r>
              <a:t>User progress is shared on public boards. Behavioral metrics inform recommendations without parent setup.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566160"/>
            <a:ext cx="5120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7490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143C32"/>
                </a:solidFill>
                <a:latin typeface="Arial"/>
              </a:defRPr>
            </a:pPr>
            <a:r>
              <a:t>🚫 No parent-facing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0624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E232D"/>
                </a:solidFill>
                <a:latin typeface="Arial"/>
              </a:defRPr>
            </a:pPr>
            <a:r>
              <a:t>Parents have no dashboard or panel to audit settings, view stored details, or easily withdraw consent.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669280"/>
            <a:ext cx="10728655" cy="731520"/>
          </a:xfrm>
          <a:prstGeom prst="rect">
            <a:avLst/>
          </a:prstGeom>
          <a:solidFill>
            <a:srgbClr val="14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The trust gap: A parent who discovers this after the fact has no reason to trust the product going forward — that's a retention risk, independent of any regulation.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2F5D50"/>
                </a:solidFill>
                <a:latin typeface="Arial"/>
              </a:defRPr>
            </a:pPr>
            <a:r>
              <a:t>PROTOTYPE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143C32"/>
                </a:solidFill>
                <a:latin typeface="Arial"/>
              </a:defRPr>
            </a:pPr>
            <a:r>
              <a:t>Real-time progressive feature activation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 i="0">
                <a:solidFill>
                  <a:srgbClr val="FF6B4A"/>
                </a:solidFill>
                <a:latin typeface="Arial"/>
              </a:defRPr>
            </a:pPr>
            <a:r>
              <a:t>Safe Mode  ⟶  Risk Trigger  ⟶  Parent Review  ⟶  Feature Unlock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743200" cy="1645920"/>
          </a:xfrm>
          <a:prstGeom prst="rect">
            <a:avLst/>
          </a:prstGeom>
          <a:solidFill>
            <a:srgbClr val="F5F7F6"/>
          </a:solidFill>
          <a:ln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5C6B64"/>
                </a:solidFill>
                <a:latin typeface="Arial"/>
              </a:defRPr>
            </a:pPr>
            <a:r>
              <a:t>[ Screenshot Placeholder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6B4A"/>
                </a:solidFill>
                <a:latin typeface="Arial"/>
              </a:defRPr>
            </a:pPr>
            <a:r>
              <a:t>📱 SCREENSHOT 1: Safe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143C32"/>
                </a:solidFill>
                <a:latin typeface="Arial"/>
              </a:defRPr>
            </a:pPr>
            <a:r>
              <a:t>Child can immediately start learning while sensitive features remain locked.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E232D"/>
                </a:solidFill>
                <a:latin typeface="Arial"/>
              </a:defRPr>
            </a:pPr>
            <a:r>
              <a:t>Aisha can do reading/listening lessons instantly without roadblocks. Mic &amp; leaderboard elements display lock (🔒) icons.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29184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2194560"/>
            <a:ext cx="2743200" cy="1645920"/>
          </a:xfrm>
          <a:prstGeom prst="rect">
            <a:avLst/>
          </a:prstGeom>
          <a:solidFill>
            <a:srgbClr val="F5F7F6"/>
          </a:solidFill>
          <a:ln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5C6B64"/>
                </a:solidFill>
                <a:latin typeface="Arial"/>
              </a:defRPr>
            </a:pPr>
            <a:r>
              <a:t>[ Screenshot Placeholder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6B4A"/>
                </a:solidFill>
                <a:latin typeface="Arial"/>
              </a:defRPr>
            </a:pPr>
            <a:r>
              <a:t>📩 SCREENSHOT 2: Parent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97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143C32"/>
                </a:solidFill>
                <a:latin typeface="Arial"/>
              </a:defRPr>
            </a:pPr>
            <a:r>
              <a:t>Parent receives contextual explanation and granular controls.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7548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E232D"/>
                </a:solidFill>
                <a:latin typeface="Arial"/>
              </a:defRPr>
            </a:pPr>
            <a:r>
              <a:t>Priya opens family link showing why Aisha needs the mic (speaking practice) with toggle controls to customize data sharing.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29184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194560"/>
            <a:ext cx="2743200" cy="1645920"/>
          </a:xfrm>
          <a:prstGeom prst="rect">
            <a:avLst/>
          </a:prstGeom>
          <a:solidFill>
            <a:srgbClr val="F5F7F6"/>
          </a:solidFill>
          <a:ln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5C6B64"/>
                </a:solidFill>
                <a:latin typeface="Arial"/>
              </a:defRPr>
            </a:pPr>
            <a:r>
              <a:t>[ Screenshot Placeholder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931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6B4A"/>
                </a:solidFill>
                <a:latin typeface="Arial"/>
              </a:defRPr>
            </a:pPr>
            <a:r>
              <a:t>🎉 SCREENSHOT 3: Approved 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97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143C32"/>
                </a:solidFill>
                <a:latin typeface="Arial"/>
              </a:defRPr>
            </a:pPr>
            <a:r>
              <a:t>Child receives immediate value once permission is approved.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7548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E232D"/>
                </a:solidFill>
                <a:latin typeface="Arial"/>
              </a:defRPr>
            </a:pPr>
            <a:r>
              <a:t>App syncs live with a confetti burst. Microphone unlocks and Aisha gains +15 XP from speaking exercises.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2F5D50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143C32"/>
                </a:solidFill>
                <a:latin typeface="Arial"/>
              </a:defRPr>
            </a:pPr>
            <a:r>
              <a:t>Progressive Trust Verification (PTV)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548640"/>
          </a:xfrm>
          <a:prstGeom prst="rect">
            <a:avLst/>
          </a:prstGeom>
          <a:solidFill>
            <a:srgbClr val="FDF0EE"/>
          </a:solidFill>
          <a:ln>
            <a:solidFill>
              <a:srgbClr val="F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FF6B4A"/>
                </a:solidFill>
                <a:latin typeface="Arial"/>
              </a:defRPr>
            </a:pPr>
            <a:r>
              <a:t>Core Principle: Ask for parental consent when data risk appears — not when the account is created.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9202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43C32"/>
                </a:solidFill>
                <a:latin typeface="Arial"/>
              </a:defRPr>
            </a:pPr>
            <a:r>
              <a:t>1. Signup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1645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1E232D"/>
                </a:solidFill>
                <a:latin typeface="Arial"/>
              </a:defRPr>
            </a:pPr>
            <a:r>
              <a:t>Birthdate self-declared. No upfront parental block.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194560"/>
            <a:ext cx="19202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3774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43C32"/>
                </a:solidFill>
                <a:latin typeface="Arial"/>
              </a:defRPr>
            </a:pPr>
            <a:r>
              <a:t>2. Safe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834640"/>
            <a:ext cx="1645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1E232D"/>
                </a:solidFill>
                <a:latin typeface="Arial"/>
              </a:defRPr>
            </a:pPr>
            <a:r>
              <a:t>Default state. No voice, ads, or profile sharing.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194560"/>
            <a:ext cx="19202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3774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43C32"/>
                </a:solidFill>
                <a:latin typeface="Arial"/>
              </a:defRPr>
            </a:pPr>
            <a:r>
              <a:t>3. Risk 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834640"/>
            <a:ext cx="1645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1E232D"/>
                </a:solidFill>
                <a:latin typeface="Arial"/>
              </a:defRPr>
            </a:pPr>
            <a:r>
              <a:t>First time voice/location is requested by lesson.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194560"/>
            <a:ext cx="19202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3774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43C32"/>
                </a:solidFill>
                <a:latin typeface="Arial"/>
              </a:defRPr>
            </a:pPr>
            <a:r>
              <a:t>4. Parent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834640"/>
            <a:ext cx="1645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1E232D"/>
                </a:solidFill>
                <a:latin typeface="Arial"/>
              </a:defRPr>
            </a:pPr>
            <a:r>
              <a:t>Priya reviews granular controls via cloud link.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194560"/>
            <a:ext cx="19202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23774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43C32"/>
                </a:solidFill>
                <a:latin typeface="Arial"/>
              </a:defRPr>
            </a:pPr>
            <a:r>
              <a:t>5. Sync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834640"/>
            <a:ext cx="1645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1E232D"/>
                </a:solidFill>
                <a:latin typeface="Arial"/>
              </a:defRPr>
            </a:pPr>
            <a:r>
              <a:t>Live update unlocks feature with sound &amp; XP.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69280"/>
            <a:ext cx="10728655" cy="731520"/>
          </a:xfrm>
          <a:prstGeom prst="rect">
            <a:avLst/>
          </a:prstGeom>
          <a:solidFill>
            <a:srgbClr val="14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Why this beats a signup wall: A wall at signup protects data the account doesn't have yet — at the cost of activation. PTV lets the child get real value first, and only asks the parent to engage at the exact moment there's something concrete worth reviewing.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2F5D50"/>
                </a:solidFill>
                <a:latin typeface="Arial"/>
              </a:defRPr>
            </a:pPr>
            <a:r>
              <a:t>HOW WE'LL KNOW IT'S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143C32"/>
                </a:solidFill>
                <a:latin typeface="Arial"/>
              </a:defRPr>
            </a:pPr>
            <a:r>
              <a:t>Metrics that tie trust to business health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4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6B4A"/>
                </a:solidFill>
                <a:latin typeface="Arial"/>
              </a:defRPr>
            </a:pPr>
            <a:r>
              <a:t>🌟 NORTH STAR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% of under-18 accounts with valid, current, feature-level data-collecting feature in active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4389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Arial"/>
              </a:defRPr>
            </a:pPr>
            <a:r>
              <a:t>This is the single number that tells us the product is both legally compliant (DPDP Act verified) and parent-trusted (permissions active) at the same time without dampening child user activity.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43C32"/>
                </a:solidFill>
                <a:latin typeface="Arial"/>
              </a:defRPr>
            </a:pPr>
            <a:r>
              <a:t>📋 SUPPORTING PRODUCT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43891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1E232D"/>
                </a:solidFill>
                <a:latin typeface="Arial"/>
              </a:defRPr>
            </a:pPr>
            <a:r>
              <a:t>•  Time-to-Verification: Trigger fired ⟶ parent completes cloud review.</a:t>
            </a:r>
          </a:p>
          <a:p>
            <a:pPr>
              <a:spcAft>
                <a:spcPts val="800"/>
              </a:spcAft>
              <a:defRPr sz="1250">
                <a:solidFill>
                  <a:srgbClr val="1E232D"/>
                </a:solidFill>
                <a:latin typeface="Arial"/>
              </a:defRPr>
            </a:pPr>
            <a:r>
              <a:t>•  Safe Mode Adoption: Engagement levels of children without voice/social active.</a:t>
            </a:r>
          </a:p>
          <a:p>
            <a:pPr>
              <a:spcAft>
                <a:spcPts val="800"/>
              </a:spcAft>
              <a:defRPr sz="1250">
                <a:solidFill>
                  <a:srgbClr val="1E232D"/>
                </a:solidFill>
                <a:latin typeface="Arial"/>
              </a:defRPr>
            </a:pPr>
            <a:r>
              <a:t>•  Consent Revocation Rate: Percentage of parents pulling back permissions.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4023360"/>
            <a:ext cx="4389120" cy="18288"/>
          </a:xfrm>
          <a:prstGeom prst="rect">
            <a:avLst/>
          </a:prstGeom>
          <a:solidFill>
            <a:srgbClr val="DC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2062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43C32"/>
                </a:solidFill>
                <a:latin typeface="Arial"/>
              </a:defRPr>
            </a:pPr>
            <a:r>
              <a:t>🚨 BUSINESS GUARDRAILS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663440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1E232D"/>
                </a:solidFill>
                <a:latin typeface="Arial"/>
              </a:defRPr>
            </a:pPr>
            <a:r>
              <a:t>•  D7 / D30 Cohort Retention: Ensures trust mechanics do not negatively impact learning streak frequency.</a:t>
            </a:r>
          </a:p>
          <a:p>
            <a:pPr>
              <a:spcAft>
                <a:spcPts val="800"/>
              </a:spcAft>
              <a:defRPr sz="1250">
                <a:solidFill>
                  <a:srgbClr val="1E232D"/>
                </a:solidFill>
                <a:latin typeface="Arial"/>
              </a:defRPr>
            </a:pPr>
            <a:r>
              <a:t>•  Consent Support Tickets: Tracking parental complaints as a UX friction benchmark.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2F5D50"/>
                </a:solidFill>
                <a:latin typeface="Arial"/>
              </a:defRPr>
            </a:pPr>
            <a:r>
              <a:t>DIAGNOSTIC THINKING &amp;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143C32"/>
                </a:solidFill>
                <a:latin typeface="Arial"/>
              </a:defRPr>
            </a:pPr>
            <a:r>
              <a:t>PM Dashboard &amp; Response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143C32"/>
                </a:solidFill>
                <a:latin typeface="Arial"/>
              </a:defRPr>
            </a:pPr>
            <a:r>
              <a:t>📊 PM Dashboard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286000"/>
            <a:ext cx="2011680" cy="914400"/>
          </a:xfrm>
          <a:prstGeom prst="roundRect">
            <a:avLst/>
          </a:prstGeom>
          <a:solidFill>
            <a:srgbClr val="F5F7F6"/>
          </a:solidFill>
          <a:ln w="1270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5C6B64"/>
                </a:solidFill>
                <a:latin typeface="Arial"/>
              </a:defRPr>
            </a:pPr>
            <a:r>
              <a:t>Consent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974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FF6B4A"/>
                </a:solidFill>
                <a:latin typeface="Arial"/>
              </a:defRPr>
            </a:pPr>
            <a:r>
              <a:t>62%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286000"/>
            <a:ext cx="2011680" cy="914400"/>
          </a:xfrm>
          <a:prstGeom prst="roundRect">
            <a:avLst/>
          </a:prstGeom>
          <a:solidFill>
            <a:srgbClr val="F5F7F6"/>
          </a:solidFill>
          <a:ln w="1270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4231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5C6B64"/>
                </a:solidFill>
                <a:latin typeface="Arial"/>
              </a:defRPr>
            </a:pPr>
            <a:r>
              <a:t>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974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FF6B4A"/>
                </a:solidFill>
                <a:latin typeface="Arial"/>
              </a:defRPr>
            </a:pPr>
            <a:r>
              <a:t>18%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383280"/>
            <a:ext cx="2011680" cy="914400"/>
          </a:xfrm>
          <a:prstGeom prst="roundRect">
            <a:avLst/>
          </a:prstGeom>
          <a:solidFill>
            <a:srgbClr val="F5F7F6"/>
          </a:solidFill>
          <a:ln w="1270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5204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5C6B64"/>
                </a:solidFill>
                <a:latin typeface="Arial"/>
              </a:defRPr>
            </a:pPr>
            <a:r>
              <a:t>Safe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947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FF6B4A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383280"/>
            <a:ext cx="2011680" cy="914400"/>
          </a:xfrm>
          <a:prstGeom prst="roundRect">
            <a:avLst/>
          </a:prstGeom>
          <a:solidFill>
            <a:srgbClr val="F5F7F6"/>
          </a:solidFill>
          <a:ln w="1270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5204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5C6B64"/>
                </a:solidFill>
                <a:latin typeface="Arial"/>
              </a:defRPr>
            </a:pPr>
            <a:r>
              <a:t>Revoked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7947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FF6B4A"/>
                </a:solidFill>
                <a:latin typeface="Arial"/>
              </a:defRPr>
            </a:pPr>
            <a:r>
              <a:t>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1E232D"/>
                </a:solidFill>
                <a:latin typeface="Arial"/>
              </a:defRPr>
            </a:pPr>
            <a:r>
              <a:t>Main Visual Charts:</a:t>
            </a:r>
            <a:br/>
            <a:r>
              <a:t>1. Consent Trend (Conversion rate of requests over time)</a:t>
            </a:r>
            <a:br/>
            <a:r>
              <a:t>2. Retention Trend (D30 streak correlation by consent state)</a:t>
            </a:r>
            <a:br/>
            <a:r>
              <a:t>3. Revocation Trend (Voluntary opt-out spikes matching digests)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8288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143C32"/>
                </a:solidFill>
                <a:latin typeface="Arial"/>
              </a:defRPr>
            </a:pPr>
            <a:r>
              <a:t>🧠 Diagnostic Thinking (Triage Matrix)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945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5C6B64"/>
                </a:solidFill>
                <a:latin typeface="Arial"/>
              </a:defRPr>
            </a:pPr>
            <a:r>
              <a:t>If consent rate drops, systematically check: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5603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6B4A"/>
                </a:solidFill>
                <a:latin typeface="Arial"/>
              </a:defRPr>
            </a:pPr>
            <a:r>
              <a:t>1. Notification Delivery 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83464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0">
                <a:solidFill>
                  <a:srgbClr val="1E232D"/>
                </a:solidFill>
                <a:latin typeface="Arial"/>
              </a:defRPr>
            </a:pPr>
            <a:r>
              <a:t>Check SMS/WhatsApp/Email webhook delivery rates. A drop here signals latency in parent communication paths.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5661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6B4A"/>
                </a:solidFill>
                <a:latin typeface="Arial"/>
              </a:defRPr>
            </a:pPr>
            <a:r>
              <a:t>2. Revocation Spike Correlation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4048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0">
                <a:solidFill>
                  <a:srgbClr val="1E232D"/>
                </a:solidFill>
                <a:latin typeface="Arial"/>
              </a:defRPr>
            </a:pPr>
            <a:r>
              <a:t>Analyze if parental opt-out spiked following the deployment of a quarterly email digest or billing cycle.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5720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6B4A"/>
                </a:solidFill>
                <a:latin typeface="Arial"/>
              </a:defRPr>
            </a:pPr>
            <a:r>
              <a:t>3. Cohort Dilution &amp; Age Shift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84632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0">
                <a:solidFill>
                  <a:srgbClr val="1E232D"/>
                </a:solidFill>
                <a:latin typeface="Arial"/>
              </a:defRPr>
            </a:pPr>
            <a:r>
              <a:t>Validate if new user signups are skewing older/younger, changing the proportion of safe mode defaults.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2F5D50"/>
                </a:solidFill>
                <a:latin typeface="Arial"/>
              </a:defRPr>
            </a:pPr>
            <a:r>
              <a:t>GETTING THIS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143C32"/>
                </a:solidFill>
                <a:latin typeface="Arial"/>
              </a:defRPr>
            </a:pPr>
            <a:r>
              <a:t>Rollout strategy and the risks we're accepting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FF6B4A"/>
                </a:solidFill>
                <a:latin typeface="Arial"/>
              </a:defRPr>
            </a:pPr>
            <a:r>
              <a:t>Phase 1 (1-2 weeks)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143C32"/>
                </a:solidFill>
                <a:latin typeface="Arial"/>
              </a:defRPr>
            </a:pPr>
            <a:r>
              <a:t>Shadow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32D"/>
                </a:solidFill>
                <a:latin typeface="Arial"/>
              </a:defRPr>
            </a:pPr>
            <a:r>
              <a:t>•  Log trigger actions on production databases.</a:t>
            </a:r>
          </a:p>
          <a:p>
            <a:pPr>
              <a:defRPr sz="1100">
                <a:solidFill>
                  <a:srgbClr val="1E232D"/>
                </a:solidFill>
                <a:latin typeface="Arial"/>
              </a:defRPr>
            </a:pPr>
            <a:r>
              <a:t>•  Confirm logic works in background without changing active child UI.</a:t>
            </a:r>
          </a:p>
          <a:p>
            <a:pPr>
              <a:defRPr sz="1100">
                <a:solidFill>
                  <a:srgbClr val="1E232D"/>
                </a:solidFill>
                <a:latin typeface="Arial"/>
              </a:defRPr>
            </a:pPr>
            <a:r>
              <a:t>•  Verify cloud messaging load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FF6B4A"/>
                </a:solidFill>
                <a:latin typeface="Arial"/>
              </a:defRPr>
            </a:pPr>
            <a:r>
              <a:t>Phase 2 (2-4 weeks)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143C32"/>
                </a:solidFill>
                <a:latin typeface="Arial"/>
              </a:defRPr>
            </a:pPr>
            <a:r>
              <a:t>New Signups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6032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32D"/>
                </a:solidFill>
                <a:latin typeface="Arial"/>
              </a:defRPr>
            </a:pPr>
            <a:r>
              <a:t>•  Limit risk to new acquisitions.</a:t>
            </a:r>
          </a:p>
          <a:p>
            <a:pPr>
              <a:defRPr sz="1100">
                <a:solidFill>
                  <a:srgbClr val="1E232D"/>
                </a:solidFill>
                <a:latin typeface="Arial"/>
              </a:defRPr>
            </a:pPr>
            <a:r>
              <a:t>•  Isolate experimental group to evaluate onboarding signup conversion.</a:t>
            </a:r>
          </a:p>
          <a:p>
            <a:pPr>
              <a:defRPr sz="1100">
                <a:solidFill>
                  <a:srgbClr val="1E232D"/>
                </a:solidFill>
                <a:latin typeface="Arial"/>
              </a:defRPr>
            </a:pPr>
            <a:r>
              <a:t>•  Check for immediate churn effects.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FF6B4A"/>
                </a:solidFill>
                <a:latin typeface="Arial"/>
              </a:defRPr>
            </a:pPr>
            <a:r>
              <a:t>Phase 3 (6+ weeks)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143C32"/>
                </a:solidFill>
                <a:latin typeface="Arial"/>
              </a:defRPr>
            </a:pPr>
            <a:r>
              <a:t>Staggered Existing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6032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32D"/>
                </a:solidFill>
                <a:latin typeface="Arial"/>
              </a:defRPr>
            </a:pPr>
            <a:r>
              <a:t>•  Staged region rollout (India first for DPDP compliance check).</a:t>
            </a:r>
          </a:p>
          <a:p>
            <a:pPr>
              <a:defRPr sz="1100">
                <a:solidFill>
                  <a:srgbClr val="1E232D"/>
                </a:solidFill>
                <a:latin typeface="Arial"/>
              </a:defRPr>
            </a:pPr>
            <a:r>
              <a:t>•  Slow rollout to the retained active cohort.</a:t>
            </a:r>
          </a:p>
          <a:p>
            <a:pPr>
              <a:defRPr sz="1100">
                <a:solidFill>
                  <a:srgbClr val="1E232D"/>
                </a:solidFill>
                <a:latin typeface="Arial"/>
              </a:defRPr>
            </a:pPr>
            <a:r>
              <a:t>•  Monitor customer support tick volumes.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10728655" cy="640080"/>
          </a:xfrm>
          <a:prstGeom prst="rect">
            <a:avLst/>
          </a:prstGeom>
          <a:solidFill>
            <a:srgbClr val="F5F7F6"/>
          </a:solidFill>
          <a:ln>
            <a:solidFill>
              <a:srgbClr val="DC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1">
                <a:solidFill>
                  <a:srgbClr val="2F5D50"/>
                </a:solidFill>
                <a:latin typeface="Arial"/>
              </a:defRPr>
            </a:pPr>
            <a:r>
              <a:t>Rollout Guardrails: Validate metrics daily. Immediately pause rollout if D30 cohort retention drops by &gt;5%. A/B test UX details (SMS copy, button text) — never compliance necessity.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43C32"/>
                </a:solidFill>
                <a:latin typeface="Arial"/>
              </a:defRPr>
            </a:pPr>
            <a:r>
              <a:t>KEY RISKS TO MANAGE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6B4A"/>
                </a:solidFill>
                <a:latin typeface="Arial"/>
              </a:defRPr>
            </a:pPr>
            <a:r>
              <a:t>🛠️ Engineering 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E232D"/>
                </a:solidFill>
                <a:latin typeface="Arial"/>
              </a:defRPr>
            </a:pPr>
            <a:r>
              <a:t>Every downstream microservice touching voice, social or ad cookies must query centralized consent state.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937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6B4A"/>
                </a:solidFill>
                <a:latin typeface="Arial"/>
              </a:defRPr>
            </a:pPr>
            <a:r>
              <a:t>📉 Monetization Slowdown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21208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E232D"/>
                </a:solidFill>
                <a:latin typeface="Arial"/>
              </a:defRPr>
            </a:pPr>
            <a:r>
              <a:t>Safe Mode limits target advertising &amp; premium trials. Accept lower LTV during A/B evaluation.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937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6B4A"/>
                </a:solidFill>
                <a:latin typeface="Arial"/>
              </a:defRPr>
            </a:pPr>
            <a:r>
              <a:t>⏱️ Edge-Case 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21208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E232D"/>
                </a:solidFill>
                <a:latin typeface="Arial"/>
              </a:defRPr>
            </a:pPr>
            <a:r>
              <a:t>If parent is offline, child gets stuck in restricted features (mitigate via proactive Free Play suggestions).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2F5D50"/>
                </a:solidFill>
                <a:latin typeface="Arial"/>
              </a:defRPr>
            </a:pPr>
            <a:r>
              <a:t>PRODUCT TRADEOFFS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143C32"/>
                </a:solidFill>
                <a:latin typeface="Arial"/>
              </a:defRPr>
            </a:pPr>
            <a:r>
              <a:t>Consent Wall vs. Progressive Trust Verification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77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40910"/>
                <a:gridCol w="4540910"/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43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Consent Wall (Signup Gate)</a:t>
                      </a:r>
                    </a:p>
                  </a:txBody>
                  <a:tcPr>
                    <a:solidFill>
                      <a:srgbClr val="143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Progressive Trust Verification (PTV)</a:t>
                      </a:r>
                    </a:p>
                  </a:txBody>
                  <a:tcPr>
                    <a:solidFill>
                      <a:srgbClr val="143C3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43C32"/>
                          </a:solidFill>
                          <a:latin typeface="Arial"/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32D"/>
                          </a:solidFill>
                          <a:latin typeface="Arial"/>
                        </a:defRPr>
                      </a:pPr>
                      <a:r>
                        <a:t>High — consent exists before any customer data begins to flow.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32D"/>
                          </a:solidFill>
                          <a:latin typeface="Arial"/>
                        </a:defRPr>
                      </a:pPr>
                      <a:r>
                        <a:t>High — consent is tied exactly to the specific feature in use.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43C32"/>
                          </a:solidFill>
                          <a:latin typeface="Arial"/>
                        </a:defRPr>
                      </a:pPr>
                      <a:r>
                        <a:t>Activation</a:t>
                      </a:r>
                    </a:p>
                  </a:txBody>
                  <a:tcPr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32D"/>
                          </a:solidFill>
                          <a:latin typeface="Arial"/>
                        </a:defRPr>
                      </a:pPr>
                      <a:r>
                        <a:t>Low — heavy signup block causes high user drop-off or falsified age entry.</a:t>
                      </a:r>
                    </a:p>
                  </a:txBody>
                  <a:tcPr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32D"/>
                          </a:solidFill>
                          <a:latin typeface="Arial"/>
                        </a:defRPr>
                      </a:pPr>
                      <a:r>
                        <a:t>Higher — child experiences product value first; parent active when needed.</a:t>
                      </a:r>
                    </a:p>
                  </a:txBody>
                  <a:tcPr>
                    <a:solidFill>
                      <a:srgbClr val="F5F7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43C32"/>
                          </a:solidFill>
                          <a:latin typeface="Arial"/>
                        </a:defRPr>
                      </a:pPr>
                      <a:r>
                        <a:t>Trust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32D"/>
                          </a:solidFill>
                          <a:latin typeface="Arial"/>
                        </a:defRPr>
                      </a:pPr>
                      <a:r>
                        <a:t>Fragile — one-time checklist checkbox; parent receives no ongoing relationship signals.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32D"/>
                          </a:solidFill>
                          <a:latin typeface="Arial"/>
                        </a:defRPr>
                      </a:pPr>
                      <a:r>
                        <a:t>Compounding — granular feature controls plus a recurring data digest report.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43C32"/>
                          </a:solidFill>
                          <a:latin typeface="Arial"/>
                        </a:defRPr>
                      </a:pPr>
                      <a:r>
                        <a:t>User Experience</a:t>
                      </a:r>
                    </a:p>
                  </a:txBody>
                  <a:tcPr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32D"/>
                          </a:solidFill>
                          <a:latin typeface="Arial"/>
                        </a:defRPr>
                      </a:pPr>
                      <a:r>
                        <a:t>Interrupts the moment the child is most excited to set up and start learning.</a:t>
                      </a:r>
                    </a:p>
                  </a:txBody>
                  <a:tcPr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32D"/>
                          </a:solidFill>
                          <a:latin typeface="Arial"/>
                        </a:defRPr>
                      </a:pPr>
                      <a:r>
                        <a:t>Interrupts only when the child chooses to unlock advanced features.</a:t>
                      </a:r>
                    </a:p>
                  </a:txBody>
                  <a:tcPr>
                    <a:solidFill>
                      <a:srgbClr val="F5F7F6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669280"/>
            <a:ext cx="10728655" cy="731520"/>
          </a:xfrm>
          <a:prstGeom prst="rect">
            <a:avLst/>
          </a:prstGeom>
          <a:solidFill>
            <a:srgbClr val="14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Takeaway: Progressive Trust Verification enables feature-level parental consent without introducing a high-friction onboarding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